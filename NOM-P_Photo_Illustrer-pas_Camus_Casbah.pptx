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7068800" cy="9601200"/>
  <p:notesSz cx="6858000" cy="9144000"/>
  <p:defaultTextStyle>
    <a:defPPr>
      <a:defRPr lang="fr-FR"/>
    </a:defPPr>
    <a:lvl1pPr marL="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tilisateur de Microsoft Office" initials="Office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98"/>
    <p:restoredTop sz="93157"/>
  </p:normalViewPr>
  <p:slideViewPr>
    <p:cSldViewPr snapToGrid="0" snapToObjects="1">
      <p:cViewPr varScale="1">
        <p:scale>
          <a:sx n="55" d="100"/>
          <a:sy n="55" d="100"/>
        </p:scale>
        <p:origin x="546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29912-9A13-2745-8EE1-36E292BDBBF2}" type="datetimeFigureOut">
              <a:rPr lang="fr-FR" smtClean="0"/>
              <a:t>04/03/2025</a:t>
            </a:fld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67F391-4700-DD49-AC79-1F0E82EF33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4673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67F391-4700-DD49-AC79-1F0E82EF33D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2897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571308"/>
            <a:ext cx="1280160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5042853"/>
            <a:ext cx="128016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75ED5-F479-8A4A-84D8-EA9EC24AF916}" type="datetimeFigureOut">
              <a:rPr lang="fr-FR" smtClean="0"/>
              <a:t>04/03/2025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2ADE-94F0-B247-856A-B096F84CFE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131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75ED5-F479-8A4A-84D8-EA9EC24AF916}" type="datetimeFigureOut">
              <a:rPr lang="fr-FR" smtClean="0"/>
              <a:t>04/03/2025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2ADE-94F0-B247-856A-B096F84CFE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605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4590" y="2393634"/>
            <a:ext cx="1472184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4590" y="6425249"/>
            <a:ext cx="1472184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75ED5-F479-8A4A-84D8-EA9EC24AF916}" type="datetimeFigureOut">
              <a:rPr lang="fr-FR" smtClean="0"/>
              <a:t>04/03/2025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2ADE-94F0-B247-856A-B096F84CFE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507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3480" y="2555875"/>
            <a:ext cx="7254240" cy="6091873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41080" y="2555875"/>
            <a:ext cx="7254240" cy="6091873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75ED5-F479-8A4A-84D8-EA9EC24AF916}" type="datetimeFigureOut">
              <a:rPr lang="fr-FR" smtClean="0"/>
              <a:t>04/03/2025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2ADE-94F0-B247-856A-B096F84CFE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579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3" y="511176"/>
            <a:ext cx="14721840" cy="18557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5704" y="2353628"/>
            <a:ext cx="7220902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5704" y="3507105"/>
            <a:ext cx="7220902" cy="5158423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641080" y="2353628"/>
            <a:ext cx="7256463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41080" y="3507105"/>
            <a:ext cx="7256463" cy="5158423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75ED5-F479-8A4A-84D8-EA9EC24AF916}" type="datetimeFigureOut">
              <a:rPr lang="fr-FR" smtClean="0"/>
              <a:t>04/03/2025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2ADE-94F0-B247-856A-B096F84CFE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4304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75ED5-F479-8A4A-84D8-EA9EC24AF916}" type="datetimeFigureOut">
              <a:rPr lang="fr-FR" smtClean="0"/>
              <a:t>04/03/2025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2ADE-94F0-B247-856A-B096F84CFE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05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75ED5-F479-8A4A-84D8-EA9EC24AF916}" type="datetimeFigureOut">
              <a:rPr lang="fr-FR" smtClean="0"/>
              <a:t>04/03/2025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2ADE-94F0-B247-856A-B096F84CFE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599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4" y="640080"/>
            <a:ext cx="5505132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6463" y="1382396"/>
            <a:ext cx="864108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5704" y="2880360"/>
            <a:ext cx="5505132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75ED5-F479-8A4A-84D8-EA9EC24AF916}" type="datetimeFigureOut">
              <a:rPr lang="fr-FR" smtClean="0"/>
              <a:t>04/03/2025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2ADE-94F0-B247-856A-B096F84CFE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0371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4" y="640080"/>
            <a:ext cx="5505132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256463" y="1382396"/>
            <a:ext cx="864108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5704" y="2880360"/>
            <a:ext cx="5505132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75ED5-F479-8A4A-84D8-EA9EC24AF916}" type="datetimeFigureOut">
              <a:rPr lang="fr-FR" smtClean="0"/>
              <a:t>04/03/2025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2ADE-94F0-B247-856A-B096F84CFE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2937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75ED5-F479-8A4A-84D8-EA9EC24AF916}" type="datetimeFigureOut">
              <a:rPr lang="fr-FR" smtClean="0"/>
              <a:t>04/03/2025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2ADE-94F0-B247-856A-B096F84CFE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377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214860" y="511175"/>
            <a:ext cx="3680460" cy="8136573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3480" y="511175"/>
            <a:ext cx="10828020" cy="8136573"/>
          </a:xfrm>
        </p:spPr>
        <p:txBody>
          <a:bodyPr vert="eaVert"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75ED5-F479-8A4A-84D8-EA9EC24AF916}" type="datetimeFigureOut">
              <a:rPr lang="fr-FR" smtClean="0"/>
              <a:t>04/03/2025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2ADE-94F0-B247-856A-B096F84CFE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722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3480" y="511176"/>
            <a:ext cx="1472184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3480" y="2555875"/>
            <a:ext cx="1472184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3480" y="8898891"/>
            <a:ext cx="384048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75ED5-F479-8A4A-84D8-EA9EC24AF916}" type="datetimeFigureOut">
              <a:rPr lang="fr-FR" smtClean="0"/>
              <a:t>04/03/2025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4040" y="8898891"/>
            <a:ext cx="576072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054840" y="8898891"/>
            <a:ext cx="384048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52ADE-94F0-B247-856A-B096F84CFE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24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539273" y="764309"/>
            <a:ext cx="9990270" cy="3113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679"/>
              </a:spcAft>
            </a:pPr>
            <a:r>
              <a:rPr lang="fr-FR" sz="2240" b="1" dirty="0">
                <a:latin typeface="Avenir Light" charset="0"/>
                <a:ea typeface="Avenir Light" charset="0"/>
                <a:cs typeface="Avenir Light" charset="0"/>
              </a:rPr>
              <a:t>2</a:t>
            </a:r>
            <a:r>
              <a:rPr lang="fr-FR" sz="2240" b="1" baseline="30000" dirty="0">
                <a:latin typeface="Avenir Light" charset="0"/>
                <a:ea typeface="Avenir Light" charset="0"/>
                <a:cs typeface="Avenir Light" charset="0"/>
              </a:rPr>
              <a:t>ème</a:t>
            </a:r>
            <a:r>
              <a:rPr lang="fr-FR" sz="2240" b="1" dirty="0">
                <a:latin typeface="Avenir Light" charset="0"/>
                <a:ea typeface="Avenir Light" charset="0"/>
                <a:cs typeface="Avenir Light" charset="0"/>
              </a:rPr>
              <a:t> Année CP</a:t>
            </a:r>
          </a:p>
          <a:p>
            <a:pPr algn="ctr">
              <a:spcAft>
                <a:spcPts val="1679"/>
              </a:spcAft>
            </a:pPr>
            <a:r>
              <a:rPr lang="fr-FR" sz="2240" b="1" dirty="0">
                <a:latin typeface="Avenir Light" charset="0"/>
                <a:ea typeface="Avenir Light" charset="0"/>
                <a:cs typeface="Avenir Light" charset="0"/>
              </a:rPr>
              <a:t>PHOTOGRAPHIE D’ARCHITECTURE </a:t>
            </a:r>
          </a:p>
          <a:p>
            <a:pPr algn="ctr"/>
            <a:r>
              <a:rPr lang="fr-FR" sz="2800" b="1" dirty="0">
                <a:latin typeface="Avenir Light" charset="0"/>
                <a:ea typeface="Avenir Light" charset="0"/>
                <a:cs typeface="Avenir Light" charset="0"/>
              </a:rPr>
              <a:t>Rendu de l’exercice II</a:t>
            </a:r>
          </a:p>
          <a:p>
            <a:pPr algn="ctr"/>
            <a:r>
              <a:rPr lang="fr-FR" sz="2800" b="1" dirty="0">
                <a:latin typeface="Avenir Light" charset="0"/>
                <a:ea typeface="Avenir Light" charset="0"/>
                <a:cs typeface="Avenir Light" charset="0"/>
              </a:rPr>
              <a:t>« </a:t>
            </a:r>
            <a:r>
              <a:rPr lang="fr-FR" sz="2400" b="1" dirty="0">
                <a:latin typeface="Avenir Light" charset="0"/>
                <a:ea typeface="Avenir Light" charset="0"/>
                <a:cs typeface="Avenir Light" charset="0"/>
              </a:rPr>
              <a:t>Illustrer les écrits de Jean-Jacques </a:t>
            </a:r>
            <a:r>
              <a:rPr lang="fr-FR" sz="2400" b="1" dirty="0" err="1">
                <a:latin typeface="Avenir Light" charset="0"/>
                <a:ea typeface="Avenir Light" charset="0"/>
                <a:cs typeface="Avenir Light" charset="0"/>
              </a:rPr>
              <a:t>Deluz</a:t>
            </a:r>
            <a:r>
              <a:rPr lang="fr-FR" sz="2400" b="1" dirty="0">
                <a:latin typeface="Avenir Light" charset="0"/>
                <a:ea typeface="Avenir Light" charset="0"/>
                <a:cs typeface="Avenir Light" charset="0"/>
              </a:rPr>
              <a:t> </a:t>
            </a:r>
            <a:r>
              <a:rPr lang="fr-FR" sz="2800" b="1" dirty="0">
                <a:latin typeface="Avenir Light" charset="0"/>
                <a:ea typeface="Avenir Light" charset="0"/>
                <a:cs typeface="Avenir Light" charset="0"/>
              </a:rPr>
              <a:t> » </a:t>
            </a:r>
          </a:p>
          <a:p>
            <a:pPr algn="ctr"/>
            <a:endParaRPr lang="fr-FR" sz="3361" b="1" dirty="0">
              <a:latin typeface="Avenir Light" charset="0"/>
              <a:ea typeface="Avenir Light" charset="0"/>
              <a:cs typeface="Avenir Light" charset="0"/>
            </a:endParaRPr>
          </a:p>
          <a:p>
            <a:pPr algn="ctr"/>
            <a:r>
              <a:rPr lang="fr-FR" sz="3361" b="1" dirty="0">
                <a:latin typeface="Avenir Light" charset="0"/>
                <a:ea typeface="Avenir Light" charset="0"/>
                <a:cs typeface="Avenir Light" charset="0"/>
              </a:rPr>
              <a:t>Mai 2025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539265" y="4163653"/>
            <a:ext cx="9990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fr-FR" sz="3600" dirty="0">
                <a:solidFill>
                  <a:srgbClr val="0070C0"/>
                </a:solidFill>
                <a:latin typeface="Avenir Roman" panose="020B0503020203020204" pitchFamily="34" charset="0"/>
              </a:rPr>
              <a:t>Aller sur les pas de CAMUS …</a:t>
            </a:r>
            <a:endParaRPr lang="fr-FR" sz="3361" dirty="0">
              <a:solidFill>
                <a:srgbClr val="0070C0"/>
              </a:solidFill>
              <a:latin typeface="Avenir Light" charset="0"/>
              <a:ea typeface="Avenir Light" charset="0"/>
              <a:cs typeface="Avenir Light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3539273" y="7219072"/>
            <a:ext cx="9990270" cy="1643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361" b="1" dirty="0">
                <a:latin typeface="Avenir Light" charset="0"/>
                <a:ea typeface="Avenir Light" charset="0"/>
                <a:cs typeface="Avenir Light" charset="0"/>
              </a:rPr>
              <a:t>Prénom NOM</a:t>
            </a:r>
          </a:p>
          <a:p>
            <a:pPr algn="ctr"/>
            <a:endParaRPr lang="fr-FR" sz="3361" b="1" dirty="0">
              <a:latin typeface="Avenir Light" charset="0"/>
              <a:ea typeface="Avenir Light" charset="0"/>
              <a:cs typeface="Avenir Light" charset="0"/>
            </a:endParaRPr>
          </a:p>
          <a:p>
            <a:pPr algn="ctr"/>
            <a:r>
              <a:rPr lang="fr-FR" sz="3361" b="1" dirty="0">
                <a:latin typeface="Avenir Light" charset="0"/>
                <a:ea typeface="Avenir Light" charset="0"/>
                <a:cs typeface="Avenir Light" charset="0"/>
              </a:rPr>
              <a:t>Gr. 00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859893" y="676146"/>
            <a:ext cx="1922743" cy="781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679"/>
              </a:spcAft>
            </a:pPr>
            <a:r>
              <a:rPr lang="fr-FR" sz="4480" b="1" dirty="0" err="1">
                <a:latin typeface="Bauhaus 93" charset="0"/>
                <a:ea typeface="Bauhaus 93" charset="0"/>
                <a:cs typeface="Bauhaus 93" charset="0"/>
              </a:rPr>
              <a:t>epau</a:t>
            </a:r>
            <a:endParaRPr lang="fr-FR" sz="6160" b="1" dirty="0">
              <a:latin typeface="Bauhaus 93" charset="0"/>
              <a:ea typeface="Bauhaus 93" charset="0"/>
              <a:cs typeface="Bauhaus 93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8EA9475-0269-5827-B916-FCCFB1A53A18}"/>
              </a:ext>
            </a:extLst>
          </p:cNvPr>
          <p:cNvSpPr txBox="1"/>
          <p:nvPr/>
        </p:nvSpPr>
        <p:spPr>
          <a:xfrm>
            <a:off x="6918960" y="5017741"/>
            <a:ext cx="3230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fr-FR" altLang="fr-FR" sz="2800" dirty="0">
                <a:latin typeface="Avenir Roman" panose="020B0503020203020204" pitchFamily="34" charset="0"/>
              </a:rPr>
              <a:t>En illustrant  le :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46CCCDD-EA6F-C382-618F-C9547AFD2950}"/>
              </a:ext>
            </a:extLst>
          </p:cNvPr>
          <p:cNvSpPr txBox="1"/>
          <p:nvPr/>
        </p:nvSpPr>
        <p:spPr>
          <a:xfrm>
            <a:off x="3082834" y="5556349"/>
            <a:ext cx="1090313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altLang="fr-FR" sz="3600" dirty="0">
                <a:latin typeface="MV Boli" panose="02000500030200090000" pitchFamily="2" charset="0"/>
                <a:cs typeface="MV Boli" panose="02000500030200090000" pitchFamily="2" charset="0"/>
              </a:rPr>
              <a:t>Troisième itinéraire</a:t>
            </a:r>
            <a:br>
              <a:rPr lang="fr-FR" altLang="fr-FR" sz="3200" b="1" dirty="0"/>
            </a:br>
            <a:r>
              <a:rPr lang="fr-FR" sz="4000" i="0" u="none" strike="noStrike" baseline="0" dirty="0">
                <a:latin typeface="Arial" panose="020B0604020202020204" pitchFamily="34" charset="0"/>
              </a:rPr>
              <a:t>Vers la Casbah </a:t>
            </a:r>
            <a:endParaRPr lang="fr-FR" altLang="fr-FR" sz="2400" i="1" dirty="0">
              <a:solidFill>
                <a:schemeClr val="accent6">
                  <a:lumMod val="75000"/>
                </a:schemeClr>
              </a:solidFill>
              <a:latin typeface="Avenir Light" panose="020B0402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51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145718" y="1032572"/>
            <a:ext cx="15147228" cy="4934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40"/>
              </a:spcAft>
            </a:pPr>
            <a:r>
              <a:rPr lang="fr-FR" sz="2800" b="1" dirty="0">
                <a:latin typeface="Avenir Light" charset="0"/>
                <a:ea typeface="Avenir Light" charset="0"/>
                <a:cs typeface="Avenir Light" charset="0"/>
              </a:rPr>
              <a:t>Lieux des prises de vues :  </a:t>
            </a:r>
          </a:p>
          <a:p>
            <a:endParaRPr lang="fr-FR" sz="2800" b="1" dirty="0">
              <a:latin typeface="Avenir Light" charset="0"/>
              <a:ea typeface="Avenir Light" charset="0"/>
              <a:cs typeface="Avenir Light" charset="0"/>
            </a:endParaRPr>
          </a:p>
          <a:p>
            <a:r>
              <a:rPr lang="fr-FR" sz="2800" b="1" dirty="0">
                <a:latin typeface="Avenir Light" charset="0"/>
                <a:ea typeface="Avenir Light" charset="0"/>
                <a:cs typeface="Avenir Light" charset="0"/>
              </a:rPr>
              <a:t>Date(s) de la prise des photos :</a:t>
            </a:r>
          </a:p>
          <a:p>
            <a:endParaRPr lang="fr-FR" sz="2800" b="1" dirty="0">
              <a:latin typeface="Avenir Light" charset="0"/>
              <a:ea typeface="Avenir Light" charset="0"/>
              <a:cs typeface="Avenir Light" charset="0"/>
            </a:endParaRPr>
          </a:p>
          <a:p>
            <a:r>
              <a:rPr lang="fr-FR" sz="2800" b="1" dirty="0">
                <a:latin typeface="Avenir Light" charset="0"/>
                <a:ea typeface="Avenir Light" charset="0"/>
                <a:cs typeface="Avenir Light" charset="0"/>
              </a:rPr>
              <a:t>Appareil utilisé :</a:t>
            </a:r>
          </a:p>
          <a:p>
            <a:endParaRPr lang="fr-FR" sz="2800" b="1" dirty="0">
              <a:latin typeface="Avenir Light" charset="0"/>
              <a:ea typeface="Avenir Light" charset="0"/>
              <a:cs typeface="Avenir Light" charset="0"/>
            </a:endParaRPr>
          </a:p>
          <a:p>
            <a:r>
              <a:rPr lang="fr-FR" sz="2800" b="1" dirty="0">
                <a:latin typeface="Avenir Light" charset="0"/>
                <a:ea typeface="Avenir Light" charset="0"/>
                <a:cs typeface="Avenir Light" charset="0"/>
              </a:rPr>
              <a:t>Traitement/retouche : Oui ou Non</a:t>
            </a:r>
          </a:p>
          <a:p>
            <a:endParaRPr lang="fr-FR" sz="2800" b="1" dirty="0">
              <a:latin typeface="Avenir Light" charset="0"/>
              <a:ea typeface="Avenir Light" charset="0"/>
              <a:cs typeface="Avenir Light" charset="0"/>
            </a:endParaRPr>
          </a:p>
          <a:p>
            <a:r>
              <a:rPr lang="fr-FR" sz="2800" b="1" dirty="0">
                <a:latin typeface="Avenir Light" charset="0"/>
                <a:ea typeface="Avenir Light" charset="0"/>
                <a:cs typeface="Avenir Light" charset="0"/>
              </a:rPr>
              <a:t>Quelles sont ces retouches : </a:t>
            </a:r>
          </a:p>
          <a:p>
            <a:r>
              <a:rPr lang="fr-FR" sz="2800" b="1" dirty="0">
                <a:latin typeface="Avenir Light" charset="0"/>
                <a:ea typeface="Avenir Light" charset="0"/>
                <a:cs typeface="Avenir Light" charset="0"/>
              </a:rPr>
              <a:t>- </a:t>
            </a:r>
          </a:p>
          <a:p>
            <a:r>
              <a:rPr lang="fr-FR" sz="2800" b="1" dirty="0">
                <a:latin typeface="Avenir Light" charset="0"/>
                <a:ea typeface="Avenir Light" charset="0"/>
                <a:cs typeface="Avenir Light" charset="0"/>
              </a:rPr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189710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3CD60E1-02DB-AE44-B710-40209307E39D}"/>
              </a:ext>
            </a:extLst>
          </p:cNvPr>
          <p:cNvSpPr txBox="1"/>
          <p:nvPr/>
        </p:nvSpPr>
        <p:spPr>
          <a:xfrm>
            <a:off x="15771138" y="471055"/>
            <a:ext cx="9928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chemeClr val="bg1"/>
                </a:solidFill>
              </a:rPr>
              <a:t># 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999B542-A2AB-0554-AC4F-C5C2D053A065}"/>
              </a:ext>
            </a:extLst>
          </p:cNvPr>
          <p:cNvSpPr txBox="1"/>
          <p:nvPr/>
        </p:nvSpPr>
        <p:spPr>
          <a:xfrm>
            <a:off x="9863669" y="6692495"/>
            <a:ext cx="6403900" cy="2179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# 1</a:t>
            </a:r>
          </a:p>
          <a:p>
            <a:r>
              <a:rPr lang="fr-FR" sz="2400" dirty="0">
                <a:solidFill>
                  <a:schemeClr val="bg1"/>
                </a:solidFill>
              </a:rPr>
              <a:t>« </a:t>
            </a:r>
            <a:r>
              <a:rPr lang="fr-FR" sz="2400" i="1" dirty="0">
                <a:solidFill>
                  <a:schemeClr val="bg1"/>
                </a:solidFill>
              </a:rPr>
              <a:t>reprendre l’extrait ici en Italique .. </a:t>
            </a:r>
            <a:r>
              <a:rPr lang="fr-FR" sz="2400" dirty="0">
                <a:solidFill>
                  <a:schemeClr val="bg1"/>
                </a:solidFill>
              </a:rPr>
              <a:t>»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altLang="fr-FR" sz="1800" dirty="0">
                <a:solidFill>
                  <a:schemeClr val="bg1"/>
                </a:solidFill>
                <a:latin typeface="Avenir Roman" panose="020B0503020203020204" pitchFamily="34" charset="0"/>
              </a:rPr>
              <a:t>Extrait de : C. </a:t>
            </a:r>
            <a:r>
              <a:rPr lang="fr-FR" altLang="fr-FR" sz="1800" dirty="0" err="1">
                <a:solidFill>
                  <a:schemeClr val="bg1"/>
                </a:solidFill>
                <a:latin typeface="Avenir Roman" panose="020B0503020203020204" pitchFamily="34" charset="0"/>
              </a:rPr>
              <a:t>Phéline</a:t>
            </a:r>
            <a:r>
              <a:rPr lang="fr-FR" altLang="fr-FR" sz="1800" dirty="0">
                <a:solidFill>
                  <a:schemeClr val="bg1"/>
                </a:solidFill>
                <a:latin typeface="Avenir Roman" panose="020B0503020203020204" pitchFamily="34" charset="0"/>
              </a:rPr>
              <a:t> et A. </a:t>
            </a:r>
            <a:r>
              <a:rPr lang="fr-FR" altLang="fr-FR" sz="1800" dirty="0" err="1">
                <a:solidFill>
                  <a:schemeClr val="bg1"/>
                </a:solidFill>
                <a:latin typeface="Avenir Roman" panose="020B0503020203020204" pitchFamily="34" charset="0"/>
              </a:rPr>
              <a:t>Spiquel</a:t>
            </a:r>
            <a:r>
              <a:rPr lang="fr-FR" altLang="fr-FR" sz="1800" dirty="0">
                <a:solidFill>
                  <a:schemeClr val="bg1"/>
                </a:solidFill>
                <a:latin typeface="Avenir Roman" panose="020B0503020203020204" pitchFamily="34" charset="0"/>
              </a:rPr>
              <a:t>, </a:t>
            </a:r>
            <a:r>
              <a:rPr lang="fr-FR" altLang="fr-FR" sz="1800" i="1" dirty="0">
                <a:solidFill>
                  <a:schemeClr val="bg1"/>
                </a:solidFill>
                <a:latin typeface="Avenir Roman" panose="020B0503020203020204" pitchFamily="34" charset="0"/>
              </a:rPr>
              <a:t>Alger sur les pas de CAMUS et de ses amis</a:t>
            </a:r>
            <a:r>
              <a:rPr lang="fr-FR" altLang="fr-FR" sz="1800" dirty="0">
                <a:solidFill>
                  <a:schemeClr val="bg1"/>
                </a:solidFill>
                <a:latin typeface="Avenir Roman" panose="020B0503020203020204" pitchFamily="34" charset="0"/>
              </a:rPr>
              <a:t>, Arak, 2019, p. 00</a:t>
            </a:r>
          </a:p>
          <a:p>
            <a:r>
              <a:rPr lang="fr-FR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4811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3CD60E1-02DB-AE44-B710-40209307E39D}"/>
              </a:ext>
            </a:extLst>
          </p:cNvPr>
          <p:cNvSpPr txBox="1"/>
          <p:nvPr/>
        </p:nvSpPr>
        <p:spPr>
          <a:xfrm>
            <a:off x="15771138" y="471055"/>
            <a:ext cx="9928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chemeClr val="bg1"/>
                </a:solidFill>
              </a:rPr>
              <a:t># 2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999B542-A2AB-0554-AC4F-C5C2D053A065}"/>
              </a:ext>
            </a:extLst>
          </p:cNvPr>
          <p:cNvSpPr txBox="1"/>
          <p:nvPr/>
        </p:nvSpPr>
        <p:spPr>
          <a:xfrm>
            <a:off x="9863669" y="6692495"/>
            <a:ext cx="6403900" cy="2179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# 2</a:t>
            </a:r>
          </a:p>
          <a:p>
            <a:r>
              <a:rPr lang="fr-FR" sz="2400" dirty="0">
                <a:solidFill>
                  <a:schemeClr val="bg1"/>
                </a:solidFill>
              </a:rPr>
              <a:t>« </a:t>
            </a:r>
            <a:r>
              <a:rPr lang="fr-FR" sz="2400" i="1" dirty="0">
                <a:solidFill>
                  <a:schemeClr val="bg1"/>
                </a:solidFill>
              </a:rPr>
              <a:t>reprendre l’extrait ici en Italique .. </a:t>
            </a:r>
            <a:r>
              <a:rPr lang="fr-FR" sz="2400" dirty="0">
                <a:solidFill>
                  <a:schemeClr val="bg1"/>
                </a:solidFill>
              </a:rPr>
              <a:t>»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altLang="fr-FR" sz="1800" dirty="0">
                <a:solidFill>
                  <a:schemeClr val="bg1"/>
                </a:solidFill>
                <a:latin typeface="Avenir Roman" panose="020B0503020203020204" pitchFamily="34" charset="0"/>
              </a:rPr>
              <a:t>Extrait de : C. </a:t>
            </a:r>
            <a:r>
              <a:rPr lang="fr-FR" altLang="fr-FR" sz="1800" dirty="0" err="1">
                <a:solidFill>
                  <a:schemeClr val="bg1"/>
                </a:solidFill>
                <a:latin typeface="Avenir Roman" panose="020B0503020203020204" pitchFamily="34" charset="0"/>
              </a:rPr>
              <a:t>Phéline</a:t>
            </a:r>
            <a:r>
              <a:rPr lang="fr-FR" altLang="fr-FR" sz="1800" dirty="0">
                <a:solidFill>
                  <a:schemeClr val="bg1"/>
                </a:solidFill>
                <a:latin typeface="Avenir Roman" panose="020B0503020203020204" pitchFamily="34" charset="0"/>
              </a:rPr>
              <a:t> et A. </a:t>
            </a:r>
            <a:r>
              <a:rPr lang="fr-FR" altLang="fr-FR" sz="1800" dirty="0" err="1">
                <a:solidFill>
                  <a:schemeClr val="bg1"/>
                </a:solidFill>
                <a:latin typeface="Avenir Roman" panose="020B0503020203020204" pitchFamily="34" charset="0"/>
              </a:rPr>
              <a:t>Spiquel</a:t>
            </a:r>
            <a:r>
              <a:rPr lang="fr-FR" altLang="fr-FR" sz="1800" dirty="0">
                <a:solidFill>
                  <a:schemeClr val="bg1"/>
                </a:solidFill>
                <a:latin typeface="Avenir Roman" panose="020B0503020203020204" pitchFamily="34" charset="0"/>
              </a:rPr>
              <a:t>, </a:t>
            </a:r>
            <a:r>
              <a:rPr lang="fr-FR" altLang="fr-FR" sz="1800" i="1" dirty="0">
                <a:solidFill>
                  <a:schemeClr val="bg1"/>
                </a:solidFill>
                <a:latin typeface="Avenir Roman" panose="020B0503020203020204" pitchFamily="34" charset="0"/>
              </a:rPr>
              <a:t>Alger sur les pas de CAMUS et de ses amis</a:t>
            </a:r>
            <a:r>
              <a:rPr lang="fr-FR" altLang="fr-FR" sz="1800" dirty="0">
                <a:solidFill>
                  <a:schemeClr val="bg1"/>
                </a:solidFill>
                <a:latin typeface="Avenir Roman" panose="020B0503020203020204" pitchFamily="34" charset="0"/>
              </a:rPr>
              <a:t>, Arak, 2019, p. 00</a:t>
            </a:r>
          </a:p>
          <a:p>
            <a:r>
              <a:rPr lang="fr-FR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81127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3CD60E1-02DB-AE44-B710-40209307E39D}"/>
              </a:ext>
            </a:extLst>
          </p:cNvPr>
          <p:cNvSpPr txBox="1"/>
          <p:nvPr/>
        </p:nvSpPr>
        <p:spPr>
          <a:xfrm>
            <a:off x="15771138" y="471055"/>
            <a:ext cx="9928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chemeClr val="bg1"/>
                </a:solidFill>
              </a:rPr>
              <a:t># 3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999B542-A2AB-0554-AC4F-C5C2D053A065}"/>
              </a:ext>
            </a:extLst>
          </p:cNvPr>
          <p:cNvSpPr txBox="1"/>
          <p:nvPr/>
        </p:nvSpPr>
        <p:spPr>
          <a:xfrm>
            <a:off x="9863669" y="6692495"/>
            <a:ext cx="6403900" cy="2179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# 3</a:t>
            </a:r>
          </a:p>
          <a:p>
            <a:r>
              <a:rPr lang="fr-FR" sz="2400" dirty="0">
                <a:solidFill>
                  <a:schemeClr val="bg1"/>
                </a:solidFill>
              </a:rPr>
              <a:t>« </a:t>
            </a:r>
            <a:r>
              <a:rPr lang="fr-FR" sz="2400" i="1" dirty="0">
                <a:solidFill>
                  <a:schemeClr val="bg1"/>
                </a:solidFill>
              </a:rPr>
              <a:t>reprendre l’extrait ici en Italique .. </a:t>
            </a:r>
            <a:r>
              <a:rPr lang="fr-FR" sz="2400" dirty="0">
                <a:solidFill>
                  <a:schemeClr val="bg1"/>
                </a:solidFill>
              </a:rPr>
              <a:t>»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altLang="fr-FR" sz="1800" dirty="0">
                <a:solidFill>
                  <a:schemeClr val="bg1"/>
                </a:solidFill>
                <a:latin typeface="Avenir Roman" panose="020B0503020203020204" pitchFamily="34" charset="0"/>
              </a:rPr>
              <a:t>Extrait de : C. </a:t>
            </a:r>
            <a:r>
              <a:rPr lang="fr-FR" altLang="fr-FR" sz="1800" dirty="0" err="1">
                <a:solidFill>
                  <a:schemeClr val="bg1"/>
                </a:solidFill>
                <a:latin typeface="Avenir Roman" panose="020B0503020203020204" pitchFamily="34" charset="0"/>
              </a:rPr>
              <a:t>Phéline</a:t>
            </a:r>
            <a:r>
              <a:rPr lang="fr-FR" altLang="fr-FR" sz="1800" dirty="0">
                <a:solidFill>
                  <a:schemeClr val="bg1"/>
                </a:solidFill>
                <a:latin typeface="Avenir Roman" panose="020B0503020203020204" pitchFamily="34" charset="0"/>
              </a:rPr>
              <a:t> et A. </a:t>
            </a:r>
            <a:r>
              <a:rPr lang="fr-FR" altLang="fr-FR" sz="1800" dirty="0" err="1">
                <a:solidFill>
                  <a:schemeClr val="bg1"/>
                </a:solidFill>
                <a:latin typeface="Avenir Roman" panose="020B0503020203020204" pitchFamily="34" charset="0"/>
              </a:rPr>
              <a:t>Spiquel</a:t>
            </a:r>
            <a:r>
              <a:rPr lang="fr-FR" altLang="fr-FR" sz="1800" dirty="0">
                <a:solidFill>
                  <a:schemeClr val="bg1"/>
                </a:solidFill>
                <a:latin typeface="Avenir Roman" panose="020B0503020203020204" pitchFamily="34" charset="0"/>
              </a:rPr>
              <a:t>, </a:t>
            </a:r>
            <a:r>
              <a:rPr lang="fr-FR" altLang="fr-FR" sz="1800" i="1" dirty="0">
                <a:solidFill>
                  <a:schemeClr val="bg1"/>
                </a:solidFill>
                <a:latin typeface="Avenir Roman" panose="020B0503020203020204" pitchFamily="34" charset="0"/>
              </a:rPr>
              <a:t>Alger sur les pas de CAMUS et de ses amis</a:t>
            </a:r>
            <a:r>
              <a:rPr lang="fr-FR" altLang="fr-FR" sz="1800" dirty="0">
                <a:solidFill>
                  <a:schemeClr val="bg1"/>
                </a:solidFill>
                <a:latin typeface="Avenir Roman" panose="020B0503020203020204" pitchFamily="34" charset="0"/>
              </a:rPr>
              <a:t>, Arak, 2019, p. 00</a:t>
            </a:r>
          </a:p>
          <a:p>
            <a:r>
              <a:rPr lang="fr-FR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04670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979</TotalTime>
  <Words>202</Words>
  <Application>Microsoft Office PowerPoint</Application>
  <PresentationFormat>Personnalisé</PresentationFormat>
  <Paragraphs>43</Paragraphs>
  <Slides>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3" baseType="lpstr">
      <vt:lpstr>Arial</vt:lpstr>
      <vt:lpstr>Avenir Light</vt:lpstr>
      <vt:lpstr>Avenir Roman</vt:lpstr>
      <vt:lpstr>Bauhaus 93</vt:lpstr>
      <vt:lpstr>Calibri</vt:lpstr>
      <vt:lpstr>Calibri Light</vt:lpstr>
      <vt:lpstr>MV Boli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de Microsoft Office</dc:creator>
  <cp:lastModifiedBy>Asma Hadjilah</cp:lastModifiedBy>
  <cp:revision>32</cp:revision>
  <dcterms:created xsi:type="dcterms:W3CDTF">2019-07-05T21:25:38Z</dcterms:created>
  <dcterms:modified xsi:type="dcterms:W3CDTF">2025-03-04T21:15:16Z</dcterms:modified>
</cp:coreProperties>
</file>